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sldIdLst>
    <p:sldId id="256" r:id="rId5"/>
    <p:sldId id="290" r:id="rId6"/>
    <p:sldId id="305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3303F148-3E66-4202-BAAC-1791C7E0E5C6}">
          <p14:sldIdLst/>
        </p14:section>
        <p14:section name="Intro" id="{24BD03C8-5A3E-416C-ACB0-A0F9B3BFFFB0}">
          <p14:sldIdLst>
            <p14:sldId id="256"/>
            <p14:sldId id="290"/>
            <p14:sldId id="305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14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A1A4EC-1183-6849-B335-AF5C6AB4A6CA}" v="17" dt="2026-04-19T09:13:24.9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11"/>
    <p:restoredTop sz="74840"/>
  </p:normalViewPr>
  <p:slideViewPr>
    <p:cSldViewPr snapToGrid="0">
      <p:cViewPr varScale="1">
        <p:scale>
          <a:sx n="101" d="100"/>
          <a:sy n="101" d="100"/>
        </p:scale>
        <p:origin x="14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86442A-AE5D-874E-8096-584AA1035AD6}" type="datetimeFigureOut">
              <a:rPr lang="es-ES_tradnl" smtClean="0"/>
              <a:t>22/4/26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B28324-8C7E-6447-A202-F6F0052D0F2F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77586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28324-8C7E-6447-A202-F6F0052D0F2F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99218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B28324-8C7E-6447-A202-F6F0052D0F2F}" type="slidenum">
              <a:rPr lang="es-ES_tradnl" smtClean="0"/>
              <a:t>17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36570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solidFill>
          <a:srgbClr val="1A1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Patrón de fondo&#10;&#10;Descripción generada automáticamente">
            <a:extLst>
              <a:ext uri="{FF2B5EF4-FFF2-40B4-BE49-F238E27FC236}">
                <a16:creationId xmlns:a16="http://schemas.microsoft.com/office/drawing/2014/main" id="{FB1BCB1D-345F-3722-3DDD-2866E24F95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8F15A7E-5405-0D71-FED3-354F9FA3DA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52400" y="152400"/>
            <a:ext cx="12192000" cy="6858000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B1A4ED6F-3462-986B-F69A-3F1AD5C3F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15" name="Título 14">
            <a:extLst>
              <a:ext uri="{FF2B5EF4-FFF2-40B4-BE49-F238E27FC236}">
                <a16:creationId xmlns:a16="http://schemas.microsoft.com/office/drawing/2014/main" id="{FB6DF5A7-0632-7927-CC5E-5DC63083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064419"/>
            <a:ext cx="9144000" cy="228066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Montserrat" pitchFamily="2" charset="77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16" name="Marcador de fecha 15">
            <a:extLst>
              <a:ext uri="{FF2B5EF4-FFF2-40B4-BE49-F238E27FC236}">
                <a16:creationId xmlns:a16="http://schemas.microsoft.com/office/drawing/2014/main" id="{EEC1441D-8AC7-D57D-0804-53CB301AEF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37280" y="186796"/>
            <a:ext cx="5680210" cy="365125"/>
          </a:xfrm>
          <a:prstGeom prst="rect">
            <a:avLst/>
          </a:prstGeo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endParaRPr lang="es-ES_tradnl"/>
          </a:p>
        </p:txBody>
      </p:sp>
      <p:pic>
        <p:nvPicPr>
          <p:cNvPr id="13" name="Imagen 12" descr="Imagen que contiene Texto&#10;&#10;Descripción generada automáticamente">
            <a:extLst>
              <a:ext uri="{FF2B5EF4-FFF2-40B4-BE49-F238E27FC236}">
                <a16:creationId xmlns:a16="http://schemas.microsoft.com/office/drawing/2014/main" id="{AD43E55F-BC0A-EACE-982B-CB857E7ACC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89486" y="5861065"/>
            <a:ext cx="1541409" cy="529860"/>
          </a:xfrm>
          <a:prstGeom prst="rect">
            <a:avLst/>
          </a:prstGeom>
        </p:spPr>
      </p:pic>
      <p:pic>
        <p:nvPicPr>
          <p:cNvPr id="11" name="Imagen 10" descr="Logotipo&#10;&#10;Descripción generada automáticamente">
            <a:extLst>
              <a:ext uri="{FF2B5EF4-FFF2-40B4-BE49-F238E27FC236}">
                <a16:creationId xmlns:a16="http://schemas.microsoft.com/office/drawing/2014/main" id="{E4AD139A-A080-BD1B-ED74-41D7D3F3F9B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40420" y="5793581"/>
            <a:ext cx="853634" cy="700317"/>
          </a:xfrm>
          <a:prstGeom prst="rect">
            <a:avLst/>
          </a:prstGeom>
        </p:spPr>
      </p:pic>
      <p:pic>
        <p:nvPicPr>
          <p:cNvPr id="2" name="Imagen 1" descr="Imagen que contiene dibujo&#10;&#10;Descripción generada automáticamente">
            <a:extLst>
              <a:ext uri="{FF2B5EF4-FFF2-40B4-BE49-F238E27FC236}">
                <a16:creationId xmlns:a16="http://schemas.microsoft.com/office/drawing/2014/main" id="{0BEA434B-3811-EB2F-1974-C765FA04EB5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0347" y="0"/>
            <a:ext cx="970633" cy="599508"/>
          </a:xfrm>
          <a:prstGeom prst="rect">
            <a:avLst/>
          </a:prstGeom>
        </p:spPr>
      </p:pic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2764A172-1941-F857-20AF-F4FD52BF5E7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80000"/>
          </a:blip>
          <a:stretch>
            <a:fillRect/>
          </a:stretch>
        </p:blipFill>
        <p:spPr>
          <a:xfrm>
            <a:off x="9056372" y="-1864233"/>
            <a:ext cx="4795266" cy="4795266"/>
          </a:xfrm>
          <a:prstGeom prst="rect">
            <a:avLst/>
          </a:prstGeom>
        </p:spPr>
      </p:pic>
      <p:pic>
        <p:nvPicPr>
          <p:cNvPr id="18" name="Imagen 17" descr="Icono&#10;&#10;Descripción generada automáticamente">
            <a:extLst>
              <a:ext uri="{FF2B5EF4-FFF2-40B4-BE49-F238E27FC236}">
                <a16:creationId xmlns:a16="http://schemas.microsoft.com/office/drawing/2014/main" id="{EA057281-4D48-5B03-E717-B8CBB43DE82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alphaModFix amt="80000"/>
          </a:blip>
          <a:stretch>
            <a:fillRect/>
          </a:stretch>
        </p:blipFill>
        <p:spPr>
          <a:xfrm flipV="1">
            <a:off x="489851" y="5470875"/>
            <a:ext cx="696697" cy="696697"/>
          </a:xfrm>
          <a:prstGeom prst="rect">
            <a:avLst/>
          </a:prstGeom>
        </p:spPr>
      </p:pic>
      <p:pic>
        <p:nvPicPr>
          <p:cNvPr id="24" name="Imagen 23" descr="Forma&#10;&#10;Descripción generada automáticamente con confianza baja">
            <a:extLst>
              <a:ext uri="{FF2B5EF4-FFF2-40B4-BE49-F238E27FC236}">
                <a16:creationId xmlns:a16="http://schemas.microsoft.com/office/drawing/2014/main" id="{D41A859A-617A-6389-AE28-6CB6D47761AD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30000"/>
          </a:blip>
          <a:stretch>
            <a:fillRect/>
          </a:stretch>
        </p:blipFill>
        <p:spPr>
          <a:xfrm>
            <a:off x="10296683" y="2620962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95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DF86E5-B758-23EE-2D83-859475E76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pic>
        <p:nvPicPr>
          <p:cNvPr id="4" name="Imagen 3" descr="Icono&#10;&#10;Descripción generada automáticamente">
            <a:extLst>
              <a:ext uri="{FF2B5EF4-FFF2-40B4-BE49-F238E27FC236}">
                <a16:creationId xmlns:a16="http://schemas.microsoft.com/office/drawing/2014/main" id="{EF24AABD-07AE-1451-0D16-4DBE64F1FF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 flipV="1">
            <a:off x="-348349" y="6479679"/>
            <a:ext cx="696697" cy="696697"/>
          </a:xfrm>
          <a:prstGeom prst="rect">
            <a:avLst/>
          </a:prstGeom>
        </p:spPr>
      </p:pic>
      <p:pic>
        <p:nvPicPr>
          <p:cNvPr id="10" name="Imagen 9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0D438338-C9D2-E457-EF10-2E64D433BA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t="63030" r="54623"/>
          <a:stretch/>
        </p:blipFill>
        <p:spPr>
          <a:xfrm>
            <a:off x="6511159" y="-517359"/>
            <a:ext cx="5532452" cy="2535395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036815C2-6546-592F-09F6-3E85F1D0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AFF23A-2BE9-A506-6425-9C44656F93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0511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AB8404-F5F1-BA00-11D7-388DA9E82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871BDB0A-ECEB-9B06-CC1B-8D25CD9F4F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 flipV="1">
            <a:off x="-348349" y="6479679"/>
            <a:ext cx="696697" cy="696697"/>
          </a:xfrm>
          <a:prstGeom prst="rect">
            <a:avLst/>
          </a:prstGeom>
        </p:spPr>
      </p:pic>
      <p:pic>
        <p:nvPicPr>
          <p:cNvPr id="10" name="Imagen 9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7CC0F02-06DA-36E6-0DDE-17005660CD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t="63030" r="54623"/>
          <a:stretch/>
        </p:blipFill>
        <p:spPr>
          <a:xfrm>
            <a:off x="6511159" y="-517359"/>
            <a:ext cx="5532452" cy="2535395"/>
          </a:xfrm>
          <a:prstGeom prst="rect">
            <a:avLst/>
          </a:prstGeom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AFC2EA1-D3AC-8F4D-5831-22AC852E75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3718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cono&#10;&#10;Descripción generada automáticamente">
            <a:extLst>
              <a:ext uri="{FF2B5EF4-FFF2-40B4-BE49-F238E27FC236}">
                <a16:creationId xmlns:a16="http://schemas.microsoft.com/office/drawing/2014/main" id="{B97C85CD-8095-E593-E4B4-1411993731D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</a:blip>
          <a:stretch>
            <a:fillRect/>
          </a:stretch>
        </p:blipFill>
        <p:spPr>
          <a:xfrm flipV="1">
            <a:off x="-348349" y="6479679"/>
            <a:ext cx="696697" cy="696697"/>
          </a:xfrm>
          <a:prstGeom prst="rect">
            <a:avLst/>
          </a:prstGeom>
        </p:spPr>
      </p:pic>
      <p:pic>
        <p:nvPicPr>
          <p:cNvPr id="9" name="Imagen 8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5F101E55-FF26-DA4C-EAB1-404074E077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t="63030" r="54623"/>
          <a:stretch/>
        </p:blipFill>
        <p:spPr>
          <a:xfrm>
            <a:off x="6511159" y="-517359"/>
            <a:ext cx="5532452" cy="2535395"/>
          </a:xfrm>
          <a:prstGeom prst="rect">
            <a:avLst/>
          </a:prstGeom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B88711E-2A1B-8CED-BA91-9065C5C799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6256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F76F36-9D38-6692-0C82-2EAD6441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1" y="365125"/>
            <a:ext cx="1131852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8630AD-7196-2A11-E879-FE9254C8B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9851" y="1825625"/>
            <a:ext cx="11318521" cy="446481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4DED63-B9C1-F1E2-E674-5D69D0AB7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20725" y="646616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lumMod val="50000"/>
                    <a:lumOff val="50000"/>
                  </a:schemeClr>
                </a:solidFill>
                <a:latin typeface="Montserrat" pitchFamily="2" charset="0"/>
              </a:defRPr>
            </a:lvl1pPr>
          </a:lstStyle>
          <a:p>
            <a:fld id="{F33CEE64-0045-4A0F-B2B2-E60FBA1DA48D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803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4" r:id="rId3"/>
    <p:sldLayoutId id="2147483655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2">
              <a:lumMod val="90000"/>
              <a:lumOff val="10000"/>
            </a:schemeClr>
          </a:solidFill>
          <a:latin typeface="Montserrat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SzPct val="85000"/>
        <a:buFont typeface="Wingdings" panose="05000000000000000000" pitchFamily="2" charset="2"/>
        <a:buChar char="¢"/>
        <a:defRPr sz="2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Tahoma" panose="020B0604030504040204" pitchFamily="34" charset="0"/>
        <a:buChar char="►"/>
        <a:defRPr sz="24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2pPr>
      <a:lvl3pPr marL="989013" indent="-18732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itchFamily="2" charset="0"/>
        <a:buChar char="−"/>
        <a:defRPr sz="20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3pPr>
      <a:lvl4pPr marL="1339850" indent="-174625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itchFamily="2" charset="0"/>
        <a:buChar char="−"/>
        <a:defRPr sz="1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4pPr>
      <a:lvl5pPr marL="1616075" indent="-179388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Montserrat" pitchFamily="2" charset="0"/>
        <a:buChar char="−"/>
        <a:defRPr sz="1800" kern="1200">
          <a:solidFill>
            <a:schemeClr val="tx1"/>
          </a:solidFill>
          <a:latin typeface="Montserrat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1">
            <a:extLst>
              <a:ext uri="{FF2B5EF4-FFF2-40B4-BE49-F238E27FC236}">
                <a16:creationId xmlns:a16="http://schemas.microsoft.com/office/drawing/2014/main" id="{A48D230F-2683-18A4-BFE7-7A3167935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Desarrollo e Integración de Servicios de Inteligencia Artificial (DISIA)</a:t>
            </a:r>
          </a:p>
          <a:p>
            <a:r>
              <a:rPr lang="es-ES" b="1" dirty="0"/>
              <a:t>José Antonio de la Torre las Heras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E1FB358-0908-4892-4F8B-D4C84A1B4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 DISIA</a:t>
            </a:r>
          </a:p>
        </p:txBody>
      </p:sp>
    </p:spTree>
    <p:extLst>
      <p:ext uri="{BB962C8B-B14F-4D97-AF65-F5344CB8AC3E}">
        <p14:creationId xmlns:p14="http://schemas.microsoft.com/office/powerpoint/2010/main" val="1618874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AE79CF6C-D032-B9A6-BDB9-8ED1E83E8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Hito 4:</a:t>
            </a:r>
          </a:p>
          <a:p>
            <a:pPr lvl="1"/>
            <a:r>
              <a:rPr lang="es-ES" dirty="0"/>
              <a:t>Despliegue y paso a producción del modelo</a:t>
            </a:r>
          </a:p>
          <a:p>
            <a:pPr lvl="2"/>
            <a:r>
              <a:rPr lang="es-ES" dirty="0"/>
              <a:t>Selección de las tecnologías para el despliegue del modelo</a:t>
            </a:r>
          </a:p>
          <a:p>
            <a:pPr lvl="2"/>
            <a:r>
              <a:rPr lang="es-ES" dirty="0"/>
              <a:t>Del notebook al sistema</a:t>
            </a:r>
          </a:p>
          <a:p>
            <a:pPr lvl="2"/>
            <a:r>
              <a:rPr lang="es-ES" dirty="0"/>
              <a:t>Análisis de las necesidades del sistema (software)</a:t>
            </a:r>
          </a:p>
          <a:p>
            <a:pPr lvl="1"/>
            <a:r>
              <a:rPr lang="es-ES" dirty="0"/>
              <a:t>Fecha límite: 05/05/2026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005D72C-BC05-B42F-D52D-1F407CBC9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 DISIA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9D29D2-3721-78F5-6613-97E5086AD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90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AE55C6AE-8304-85FF-3903-2389C1066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Tener separado el entrenamiento e inferencia en dos contenedores diferentes</a:t>
            </a:r>
          </a:p>
          <a:p>
            <a:r>
              <a:rPr lang="es-ES" dirty="0"/>
              <a:t>Implementar una API para la inferencia</a:t>
            </a:r>
          </a:p>
          <a:p>
            <a:r>
              <a:rPr lang="es-ES" dirty="0"/>
              <a:t>Despliegue con Docker-</a:t>
            </a:r>
            <a:r>
              <a:rPr lang="es-ES" dirty="0" err="1"/>
              <a:t>compose</a:t>
            </a:r>
            <a:r>
              <a:rPr lang="es-ES" dirty="0"/>
              <a:t> entrenamiento e inferencia</a:t>
            </a:r>
          </a:p>
          <a:p>
            <a:r>
              <a:rPr lang="es-ES" dirty="0"/>
              <a:t>Documentación</a:t>
            </a:r>
          </a:p>
          <a:p>
            <a:r>
              <a:rPr lang="es-ES" dirty="0"/>
              <a:t>Bonus:</a:t>
            </a:r>
          </a:p>
          <a:p>
            <a:pPr lvl="1"/>
            <a:r>
              <a:rPr lang="es-ES" dirty="0"/>
              <a:t>Uso de </a:t>
            </a:r>
            <a:r>
              <a:rPr lang="es-ES" dirty="0" err="1"/>
              <a:t>kubernetes</a:t>
            </a:r>
            <a:endParaRPr lang="es-ES" dirty="0"/>
          </a:p>
          <a:p>
            <a:pPr lvl="1"/>
            <a:r>
              <a:rPr lang="es-ES" dirty="0"/>
              <a:t>Uso de minio para almacenamiento de modelos</a:t>
            </a:r>
          </a:p>
          <a:p>
            <a:pPr lvl="1"/>
            <a:r>
              <a:rPr lang="es-ES" dirty="0"/>
              <a:t>Uso de </a:t>
            </a:r>
            <a:r>
              <a:rPr lang="es-ES" dirty="0" err="1"/>
              <a:t>mlflow</a:t>
            </a:r>
            <a:r>
              <a:rPr lang="es-ES" dirty="0"/>
              <a:t> para experimentación 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6D5F6DE6-3D83-5B82-6CD5-C38CED117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Requisitos de la entrega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FCD2FC-BEC5-7B89-0C6A-158FF5E42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6674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4100B4B9-98C6-7A6C-F6A9-77ACFC2C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1" y="1825625"/>
            <a:ext cx="6390451" cy="4464816"/>
          </a:xfrm>
        </p:spPr>
        <p:txBody>
          <a:bodyPr/>
          <a:lstStyle/>
          <a:p>
            <a:r>
              <a:rPr lang="es-ES" dirty="0"/>
              <a:t>Hasta ahora habéis:</a:t>
            </a:r>
          </a:p>
          <a:p>
            <a:pPr lvl="1"/>
            <a:r>
              <a:rPr lang="es-ES" dirty="0"/>
              <a:t>Hito 1: diseñado y validado un sistema IA</a:t>
            </a:r>
          </a:p>
          <a:p>
            <a:pPr lvl="1"/>
            <a:r>
              <a:rPr lang="es-ES" dirty="0"/>
              <a:t>Hito 2: analizado, seleccionado y explorado los datos</a:t>
            </a:r>
          </a:p>
          <a:p>
            <a:pPr lvl="1"/>
            <a:r>
              <a:rPr lang="es-ES" dirty="0"/>
              <a:t>Hito 3: selección de modelo, diseño de experimentos, validación de hipótesis y resultados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87AE3A0-8932-5ABD-FDA9-695417700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 DISIA: Hito 4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CDF09B-47F2-C267-A910-F39E8E8CB0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4</a:t>
            </a:fld>
            <a:endParaRPr lang="es-ES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22EA1DA2-C87C-C2AF-908E-40BC60CC0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0688" y="1635444"/>
            <a:ext cx="4279351" cy="4654997"/>
          </a:xfrm>
          <a:prstGeom prst="rect">
            <a:avLst/>
          </a:prstGeom>
        </p:spPr>
      </p:pic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56C5A561-932B-F045-0531-D93C9E0F22B8}"/>
              </a:ext>
            </a:extLst>
          </p:cNvPr>
          <p:cNvCxnSpPr>
            <a:cxnSpLocks/>
          </p:cNvCxnSpPr>
          <p:nvPr/>
        </p:nvCxnSpPr>
        <p:spPr>
          <a:xfrm>
            <a:off x="4962293" y="2141034"/>
            <a:ext cx="3401122" cy="1338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729D2A59-F8E6-BB8C-917A-02DEEC5D4673}"/>
              </a:ext>
            </a:extLst>
          </p:cNvPr>
          <p:cNvCxnSpPr>
            <a:cxnSpLocks/>
          </p:cNvCxnSpPr>
          <p:nvPr/>
        </p:nvCxnSpPr>
        <p:spPr>
          <a:xfrm>
            <a:off x="4947425" y="2141033"/>
            <a:ext cx="2233263" cy="17826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7156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064ECEA-FE46-8884-1DC5-9A27FB729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¿Qué haréis en el hito 4?</a:t>
            </a:r>
          </a:p>
          <a:p>
            <a:pPr lvl="1"/>
            <a:r>
              <a:rPr lang="es-ES" dirty="0"/>
              <a:t>Convertir los experimentos en sistemas funcionales</a:t>
            </a:r>
          </a:p>
          <a:p>
            <a:pPr lvl="1"/>
            <a:r>
              <a:rPr lang="es-ES" dirty="0"/>
              <a:t>Desplegar vuestro servicio IA en una primera infraestructura funcional</a:t>
            </a:r>
          </a:p>
          <a:p>
            <a:pPr lvl="1"/>
            <a:r>
              <a:rPr lang="es-ES" dirty="0"/>
              <a:t>Analizar las necesidades de vuestro sistema</a:t>
            </a:r>
          </a:p>
          <a:p>
            <a:pPr lvl="2"/>
            <a:r>
              <a:rPr lang="es-ES" dirty="0"/>
              <a:t>¿Requiere de GPU?</a:t>
            </a:r>
          </a:p>
          <a:p>
            <a:pPr lvl="2"/>
            <a:r>
              <a:rPr lang="es-ES" dirty="0"/>
              <a:t>¿Es intensivo en CPU?</a:t>
            </a:r>
          </a:p>
          <a:p>
            <a:pPr lvl="2"/>
            <a:r>
              <a:rPr lang="es-ES" dirty="0"/>
              <a:t>¿Necesitamos almacenar mucho vídeo para luego hacer la inferencia?</a:t>
            </a:r>
          </a:p>
          <a:p>
            <a:pPr lvl="1"/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37D7D0F-9028-5F77-0510-FF35031A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 DISIA: Hito 4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196126-B296-8DF3-49A7-DCC35328E3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1963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C4A6174A-BD1C-FA5A-D5E6-981807861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 </a:t>
            </a:r>
            <a:r>
              <a:rPr lang="es-ES" b="1" dirty="0"/>
              <a:t>Ejemplo</a:t>
            </a:r>
            <a:r>
              <a:rPr lang="es-ES" dirty="0"/>
              <a:t>: California </a:t>
            </a:r>
            <a:r>
              <a:rPr lang="es-ES" dirty="0" err="1"/>
              <a:t>Housing</a:t>
            </a:r>
            <a:r>
              <a:rPr lang="es-ES" dirty="0"/>
              <a:t> </a:t>
            </a:r>
            <a:r>
              <a:rPr lang="es-ES" dirty="0" err="1"/>
              <a:t>Dataset</a:t>
            </a:r>
            <a:endParaRPr lang="es-ES" dirty="0"/>
          </a:p>
          <a:p>
            <a:r>
              <a:rPr lang="es-ES" dirty="0"/>
              <a:t> Pasar de notebook a:</a:t>
            </a:r>
          </a:p>
          <a:p>
            <a:pPr lvl="1"/>
            <a:r>
              <a:rPr lang="es-ES" dirty="0"/>
              <a:t>Estructura independiente: entrenamiento, training</a:t>
            </a:r>
          </a:p>
          <a:p>
            <a:pPr lvl="1"/>
            <a:r>
              <a:rPr lang="es-ES" dirty="0" err="1"/>
              <a:t>Contenerización</a:t>
            </a:r>
            <a:endParaRPr lang="es-ES" dirty="0"/>
          </a:p>
          <a:p>
            <a:pPr lvl="1"/>
            <a:r>
              <a:rPr lang="es-ES" dirty="0"/>
              <a:t>Despliegue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80BB37B-9E72-606C-9B48-9F03FF0F8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Proyecto DISIA: Hito 4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103581-1D20-A0B0-01DC-6262EDDDDB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594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E332497A-19E5-A8EF-B4DD-4813BA625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El notebook está dividido en:</a:t>
            </a:r>
          </a:p>
          <a:p>
            <a:pPr lvl="1"/>
            <a:r>
              <a:rPr lang="es-ES" dirty="0"/>
              <a:t>Ingesta de datos</a:t>
            </a:r>
          </a:p>
          <a:p>
            <a:pPr lvl="1"/>
            <a:r>
              <a:rPr lang="es-ES" dirty="0"/>
              <a:t>Descripción y análisis de datos</a:t>
            </a:r>
          </a:p>
          <a:p>
            <a:pPr lvl="1"/>
            <a:r>
              <a:rPr lang="es-ES" dirty="0"/>
              <a:t>Ingeniería de características</a:t>
            </a:r>
          </a:p>
          <a:p>
            <a:pPr lvl="1"/>
            <a:r>
              <a:rPr lang="es-ES" dirty="0"/>
              <a:t>Limpieza de datos</a:t>
            </a:r>
          </a:p>
          <a:p>
            <a:pPr lvl="1"/>
            <a:r>
              <a:rPr lang="es-ES" dirty="0"/>
              <a:t>Evaluación de modelos</a:t>
            </a:r>
          </a:p>
          <a:p>
            <a:pPr lvl="1"/>
            <a:r>
              <a:rPr lang="es-ES" dirty="0"/>
              <a:t>Inferencia</a:t>
            </a:r>
          </a:p>
          <a:p>
            <a:pPr lvl="1"/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A759F61-4447-CF02-7CC5-DE3F8B50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4E3738A-7B77-EFDA-4A17-F7A1CE7442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775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28CC4E9E-C3D4-75BC-F38D-88B64DCF2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Lo vamos a dividir en:</a:t>
            </a:r>
          </a:p>
          <a:p>
            <a:pPr lvl="1"/>
            <a:r>
              <a:rPr lang="es-ES" dirty="0" err="1"/>
              <a:t>src</a:t>
            </a:r>
            <a:r>
              <a:rPr lang="es-ES" dirty="0"/>
              <a:t>/</a:t>
            </a:r>
          </a:p>
          <a:p>
            <a:pPr lvl="2"/>
            <a:r>
              <a:rPr lang="es-ES" dirty="0" err="1"/>
              <a:t>data_ingestion.py</a:t>
            </a:r>
            <a:r>
              <a:rPr lang="es-ES" dirty="0"/>
              <a:t>: encargado de cargar los datos. Simulamos una fuente de datos externa y los hace accesible al pipeline, en este caso un </a:t>
            </a:r>
            <a:r>
              <a:rPr lang="es-ES" dirty="0" err="1"/>
              <a:t>csv</a:t>
            </a:r>
            <a:r>
              <a:rPr lang="es-ES" dirty="0"/>
              <a:t>.</a:t>
            </a:r>
          </a:p>
          <a:p>
            <a:pPr lvl="2"/>
            <a:r>
              <a:rPr lang="es-ES" dirty="0" err="1"/>
              <a:t>features.py</a:t>
            </a:r>
            <a:r>
              <a:rPr lang="es-ES" dirty="0"/>
              <a:t>: los procesos para la ingeniería de características.</a:t>
            </a:r>
          </a:p>
          <a:p>
            <a:pPr lvl="2"/>
            <a:r>
              <a:rPr lang="es-ES" dirty="0" err="1"/>
              <a:t>train.py</a:t>
            </a:r>
            <a:r>
              <a:rPr lang="es-ES" dirty="0"/>
              <a:t>: carga los datos, los preprocesa y entrena el modelo. Como resultado genera un modelo exportable.</a:t>
            </a:r>
          </a:p>
          <a:p>
            <a:pPr lvl="2"/>
            <a:r>
              <a:rPr lang="es-ES" dirty="0" err="1"/>
              <a:t>infer.py</a:t>
            </a:r>
            <a:r>
              <a:rPr lang="es-ES" dirty="0"/>
              <a:t>: carga el modelo, proporciona el método </a:t>
            </a:r>
            <a:r>
              <a:rPr lang="es-ES" dirty="0" err="1"/>
              <a:t>predict</a:t>
            </a:r>
            <a:r>
              <a:rPr lang="es-ES" dirty="0"/>
              <a:t>. </a:t>
            </a:r>
          </a:p>
          <a:p>
            <a:r>
              <a:rPr lang="es-ES" dirty="0"/>
              <a:t>Reglas:</a:t>
            </a:r>
          </a:p>
          <a:p>
            <a:pPr lvl="1"/>
            <a:r>
              <a:rPr lang="es-ES" dirty="0"/>
              <a:t>Las rutas siempre serán configurables por comandos o variables de entorno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3259128-7F5A-E221-B2F3-6418A44B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FF03C9-7922-C1FB-2826-FC4A16D957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9534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FAC20639-80CC-6B77-3751-C1FF28E9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III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2D41B28-6529-D37D-71A6-76E12B1F60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9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F3FFAF-9F25-FEE2-AB12-B87E606EF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67" y="2388473"/>
            <a:ext cx="10879265" cy="171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73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B9674432-E755-2875-78F3-30FFFCD3D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Diferenciar las dos fases en al menos dos contenedores</a:t>
            </a:r>
          </a:p>
          <a:p>
            <a:pPr lvl="1"/>
            <a:r>
              <a:rPr lang="es-ES" dirty="0"/>
              <a:t>Entrenamiento</a:t>
            </a:r>
          </a:p>
          <a:p>
            <a:pPr lvl="1"/>
            <a:r>
              <a:rPr lang="es-ES" dirty="0"/>
              <a:t>Inferencia</a:t>
            </a:r>
          </a:p>
          <a:p>
            <a:r>
              <a:rPr lang="es-ES" dirty="0"/>
              <a:t>Esto permitirá luego aplicar el </a:t>
            </a:r>
            <a:r>
              <a:rPr lang="es-ES" dirty="0" err="1"/>
              <a:t>feedback</a:t>
            </a:r>
            <a:r>
              <a:rPr lang="es-ES" dirty="0"/>
              <a:t> </a:t>
            </a:r>
            <a:r>
              <a:rPr lang="es-ES" dirty="0" err="1"/>
              <a:t>loop</a:t>
            </a:r>
            <a:r>
              <a:rPr lang="es-ES" dirty="0"/>
              <a:t> </a:t>
            </a:r>
          </a:p>
          <a:p>
            <a:r>
              <a:rPr lang="es-ES" dirty="0"/>
              <a:t>Ficheros:</a:t>
            </a:r>
          </a:p>
          <a:p>
            <a:pPr lvl="1"/>
            <a:r>
              <a:rPr lang="es-ES" dirty="0" err="1"/>
              <a:t>Dockerfile.train</a:t>
            </a:r>
            <a:endParaRPr lang="es-ES" dirty="0"/>
          </a:p>
          <a:p>
            <a:pPr lvl="1"/>
            <a:r>
              <a:rPr lang="es-ES" dirty="0" err="1"/>
              <a:t>Dockerfile.infer</a:t>
            </a:r>
            <a:endParaRPr lang="es-ES" dirty="0"/>
          </a:p>
          <a:p>
            <a:pPr lvl="1"/>
            <a:r>
              <a:rPr lang="es-ES" dirty="0"/>
              <a:t>Docker-</a:t>
            </a:r>
            <a:r>
              <a:rPr lang="es-ES" dirty="0" err="1"/>
              <a:t>compose.yml</a:t>
            </a:r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C66A74F-D2E4-426A-398A-170677803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IV: </a:t>
            </a:r>
            <a:r>
              <a:rPr lang="es-ES" dirty="0" err="1"/>
              <a:t>Contenerización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14F2B3-1D12-DEC1-FF8E-BA2B8FB145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3708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5F34386-28A9-D96B-4A49-8038A5F56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¿Qué ocurre si los datos cambian?</a:t>
            </a:r>
          </a:p>
          <a:p>
            <a:r>
              <a:rPr lang="es-ES" dirty="0"/>
              <a:t>¿Qué ocurre si el modelo cambia?</a:t>
            </a:r>
          </a:p>
          <a:p>
            <a:r>
              <a:rPr lang="es-ES" dirty="0"/>
              <a:t>¿Cómo accedo a las inferencias desde fuera?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6F05E50-4197-3773-0C29-92DC89C0E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V: preguntas abiertas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4492BC-8F52-D5B3-D254-502A354539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9148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FB4DD89-48FB-EDE9-5605-75A9F85CD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Acceso desde el exterior al proceso de inferencia</a:t>
            </a:r>
          </a:p>
          <a:p>
            <a:r>
              <a:rPr lang="es-ES" dirty="0"/>
              <a:t>¿Cómo son las cargas de trabajo?</a:t>
            </a:r>
          </a:p>
          <a:p>
            <a:pPr lvl="1"/>
            <a:r>
              <a:rPr lang="es-ES" dirty="0" err="1"/>
              <a:t>Batch</a:t>
            </a:r>
            <a:endParaRPr lang="es-ES" dirty="0"/>
          </a:p>
          <a:p>
            <a:pPr lvl="1"/>
            <a:r>
              <a:rPr lang="es-ES" dirty="0" err="1"/>
              <a:t>Streaming</a:t>
            </a:r>
            <a:endParaRPr lang="es-ES" dirty="0"/>
          </a:p>
          <a:p>
            <a:r>
              <a:rPr lang="es-ES" dirty="0"/>
              <a:t>¿Qué tipo de clientes vamos a tener?</a:t>
            </a:r>
          </a:p>
          <a:p>
            <a:pPr lvl="1"/>
            <a:r>
              <a:rPr lang="es-ES" dirty="0"/>
              <a:t>Móviles</a:t>
            </a:r>
          </a:p>
          <a:p>
            <a:pPr lvl="1"/>
            <a:r>
              <a:rPr lang="es-ES" dirty="0"/>
              <a:t>Dispositivos </a:t>
            </a:r>
            <a:r>
              <a:rPr lang="es-ES" dirty="0" err="1"/>
              <a:t>IoT</a:t>
            </a:r>
            <a:endParaRPr lang="es-ES" dirty="0"/>
          </a:p>
          <a:p>
            <a:pPr lvl="1"/>
            <a:r>
              <a:rPr lang="es-ES" dirty="0"/>
              <a:t>Televisores</a:t>
            </a:r>
          </a:p>
          <a:p>
            <a:r>
              <a:rPr lang="es-ES" dirty="0"/>
              <a:t> Tecnologías</a:t>
            </a:r>
          </a:p>
          <a:p>
            <a:pPr lvl="1"/>
            <a:r>
              <a:rPr lang="es-ES" dirty="0" err="1"/>
              <a:t>Flask</a:t>
            </a:r>
            <a:endParaRPr lang="es-ES" dirty="0"/>
          </a:p>
          <a:p>
            <a:pPr lvl="1"/>
            <a:r>
              <a:rPr lang="es-ES" dirty="0" err="1"/>
              <a:t>Fastapi</a:t>
            </a:r>
            <a:endParaRPr lang="es-ES" dirty="0"/>
          </a:p>
          <a:p>
            <a:pPr lvl="1"/>
            <a:r>
              <a:rPr lang="es-ES" dirty="0" err="1"/>
              <a:t>Mlrun</a:t>
            </a:r>
            <a:endParaRPr lang="es-ES" dirty="0"/>
          </a:p>
          <a:p>
            <a:pPr lvl="1"/>
            <a:r>
              <a:rPr lang="es-ES" dirty="0" err="1"/>
              <a:t>Kserve</a:t>
            </a:r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EF4A886-7371-047B-E706-602359BB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VI: API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02E479-F71F-FD37-6A41-F82F82C1F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894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A03159B-AC21-50F7-37EC-A7F53B684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VII: API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2FDC1C6-D425-AA27-4679-0137135FBC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13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0F2DFC3-B4B7-926B-C1AD-25FD40907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179" y="1406289"/>
            <a:ext cx="7772400" cy="404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51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A5595-2E88-82E2-ED0B-90ADC450D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1BCACB1A-BABE-D8F0-7368-5B38C8A0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VIII: API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A5D120-C707-DC0E-764B-F60C8E4337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14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C407EE-B7F4-B732-D7AA-F479935D6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264" y="1314690"/>
            <a:ext cx="7772400" cy="422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791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F4AD690C-FA9D-4FB2-AC5F-B7A9BE715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¿Una API para cada modelo?</a:t>
            </a:r>
          </a:p>
          <a:p>
            <a:r>
              <a:rPr lang="es-ES" dirty="0"/>
              <a:t>¿Qué ocurre si cambian las características?</a:t>
            </a:r>
          </a:p>
          <a:p>
            <a:r>
              <a:rPr lang="es-ES" dirty="0"/>
              <a:t>¿Un cliente por API?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B210B7DC-21B4-60CC-6FEC-523C14AF1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Preguntas abiertas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4F0B37B-F876-2569-183F-77C03D0F8F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941686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5DD831D6-B2FE-077E-E850-0708852AE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b="1" dirty="0"/>
              <a:t>Open </a:t>
            </a:r>
            <a:r>
              <a:rPr lang="es-ES" b="1" dirty="0" err="1"/>
              <a:t>Inference</a:t>
            </a:r>
            <a:r>
              <a:rPr lang="es-ES" b="1" dirty="0"/>
              <a:t> </a:t>
            </a:r>
            <a:r>
              <a:rPr lang="es-ES" b="1" dirty="0" err="1"/>
              <a:t>Protocol</a:t>
            </a:r>
            <a:r>
              <a:rPr lang="es-ES" dirty="0"/>
              <a:t>: usado por </a:t>
            </a:r>
            <a:r>
              <a:rPr lang="es-ES" dirty="0" err="1"/>
              <a:t>kserve</a:t>
            </a:r>
            <a:r>
              <a:rPr lang="es-ES" dirty="0"/>
              <a:t>, soporta http, </a:t>
            </a:r>
            <a:r>
              <a:rPr lang="es-ES" dirty="0" err="1"/>
              <a:t>grpc</a:t>
            </a:r>
            <a:r>
              <a:rPr lang="es-ES" dirty="0"/>
              <a:t>…</a:t>
            </a:r>
          </a:p>
          <a:p>
            <a:pPr lvl="1"/>
            <a:r>
              <a:rPr lang="es-ES" dirty="0"/>
              <a:t>Unifica los parámetros para la </a:t>
            </a:r>
            <a:br>
              <a:rPr lang="es-ES" dirty="0"/>
            </a:br>
            <a:r>
              <a:rPr lang="es-ES" dirty="0"/>
              <a:t>inferencia</a:t>
            </a:r>
          </a:p>
          <a:p>
            <a:pPr lvl="1"/>
            <a:r>
              <a:rPr lang="es-ES" dirty="0"/>
              <a:t>Proporciona </a:t>
            </a:r>
            <a:r>
              <a:rPr lang="es-ES" dirty="0" err="1"/>
              <a:t>endpoints</a:t>
            </a:r>
            <a:r>
              <a:rPr lang="es-ES" dirty="0"/>
              <a:t> para:</a:t>
            </a:r>
          </a:p>
          <a:p>
            <a:pPr lvl="2"/>
            <a:r>
              <a:rPr lang="es-ES" dirty="0"/>
              <a:t>Salud</a:t>
            </a:r>
          </a:p>
          <a:p>
            <a:pPr lvl="2"/>
            <a:r>
              <a:rPr lang="es-ES" dirty="0"/>
              <a:t>Metadatos del modelo</a:t>
            </a:r>
          </a:p>
          <a:p>
            <a:pPr lvl="1"/>
            <a:r>
              <a:rPr lang="es-ES" dirty="0"/>
              <a:t>Permite su uso mediante</a:t>
            </a:r>
          </a:p>
          <a:p>
            <a:pPr lvl="2"/>
            <a:r>
              <a:rPr lang="es-ES" dirty="0"/>
              <a:t>REST</a:t>
            </a:r>
          </a:p>
          <a:p>
            <a:pPr lvl="2"/>
            <a:r>
              <a:rPr lang="es-ES" dirty="0"/>
              <a:t>GRPC</a:t>
            </a:r>
          </a:p>
          <a:p>
            <a:pPr lvl="1"/>
            <a:r>
              <a:rPr lang="es-ES" dirty="0"/>
              <a:t>Implementado por:</a:t>
            </a:r>
          </a:p>
          <a:p>
            <a:pPr lvl="2"/>
            <a:r>
              <a:rPr lang="es-ES" dirty="0"/>
              <a:t>NVIDIA </a:t>
            </a:r>
            <a:r>
              <a:rPr lang="es-ES" dirty="0" err="1"/>
              <a:t>Triton</a:t>
            </a:r>
            <a:r>
              <a:rPr lang="es-ES" dirty="0"/>
              <a:t> </a:t>
            </a:r>
            <a:r>
              <a:rPr lang="es-ES" dirty="0" err="1"/>
              <a:t>Inference</a:t>
            </a:r>
            <a:r>
              <a:rPr lang="es-ES" dirty="0"/>
              <a:t> Server </a:t>
            </a:r>
            <a:r>
              <a:rPr lang="es-ES" dirty="0" err="1"/>
              <a:t>protocol</a:t>
            </a:r>
            <a:endParaRPr lang="es-ES" dirty="0"/>
          </a:p>
          <a:p>
            <a:pPr lvl="2"/>
            <a:r>
              <a:rPr lang="es-ES" dirty="0" err="1"/>
              <a:t>Seldon</a:t>
            </a:r>
            <a:r>
              <a:rPr lang="es-ES" dirty="0"/>
              <a:t> Core v2 </a:t>
            </a:r>
            <a:r>
              <a:rPr lang="es-ES" dirty="0" err="1"/>
              <a:t>inference</a:t>
            </a:r>
            <a:r>
              <a:rPr lang="es-ES" dirty="0"/>
              <a:t> </a:t>
            </a:r>
            <a:r>
              <a:rPr lang="es-ES" dirty="0" err="1"/>
              <a:t>protocol</a:t>
            </a:r>
            <a:endParaRPr lang="es-ES" dirty="0"/>
          </a:p>
          <a:p>
            <a:pPr lvl="2"/>
            <a:r>
              <a:rPr lang="es-ES" dirty="0" err="1"/>
              <a:t>OpenVINO</a:t>
            </a:r>
            <a:r>
              <a:rPr lang="es-ES" dirty="0"/>
              <a:t> REST/</a:t>
            </a:r>
            <a:r>
              <a:rPr lang="es-ES" dirty="0" err="1"/>
              <a:t>gRPC</a:t>
            </a:r>
            <a:r>
              <a:rPr lang="es-ES" dirty="0"/>
              <a:t> API, </a:t>
            </a:r>
            <a:br>
              <a:rPr lang="es-ES" dirty="0"/>
            </a:br>
            <a:r>
              <a:rPr lang="es-ES" dirty="0"/>
              <a:t>AMD </a:t>
            </a:r>
            <a:r>
              <a:rPr lang="es-ES" dirty="0" err="1"/>
              <a:t>Inference</a:t>
            </a:r>
            <a:r>
              <a:rPr lang="es-ES" dirty="0"/>
              <a:t> Server y </a:t>
            </a:r>
            <a:r>
              <a:rPr lang="es-ES" dirty="0" err="1"/>
              <a:t>TorchServe</a:t>
            </a:r>
            <a:r>
              <a:rPr lang="es-ES" dirty="0"/>
              <a:t> </a:t>
            </a:r>
            <a:r>
              <a:rPr lang="es-ES" dirty="0" err="1"/>
              <a:t>Inference</a:t>
            </a:r>
            <a:r>
              <a:rPr lang="es-ES" dirty="0"/>
              <a:t> API</a:t>
            </a:r>
          </a:p>
          <a:p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5A5DD64C-D92F-9010-87F2-34B856606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Soluciones estándar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EECF22-9D6E-EC62-6160-031CD5239B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16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A3BDCA5-84FB-09C1-7E94-E45CE985D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2183" y="2550032"/>
            <a:ext cx="3139296" cy="387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6598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28437DF-FE42-1225-52A9-87B06280D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Open AI Responses API</a:t>
            </a:r>
          </a:p>
          <a:p>
            <a:r>
              <a:rPr lang="es-ES" dirty="0" err="1"/>
              <a:t>HuggingFace</a:t>
            </a:r>
            <a:endParaRPr lang="es-ES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28D78484-E078-E5CC-25FF-A3B9D29B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Soluciones de facto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078609-9DEC-1E15-0C1E-3ACCA48B1D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CEE64-0045-4A0F-B2B2-E60FBA1DA48D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3779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s_Collaboration_Space_Locked xmlns="b8bf9891-911b-4f04-abb5-c4fb29804e94" xsi:nil="true"/>
    <_activity xmlns="b8bf9891-911b-4f04-abb5-c4fb29804e94" xsi:nil="true"/>
    <Has_Teacher_Only_SectionGroup xmlns="b8bf9891-911b-4f04-abb5-c4fb29804e94" xsi:nil="true"/>
    <CultureName xmlns="b8bf9891-911b-4f04-abb5-c4fb29804e94" xsi:nil="true"/>
    <Students xmlns="b8bf9891-911b-4f04-abb5-c4fb29804e94">
      <UserInfo>
        <DisplayName/>
        <AccountId xsi:nil="true"/>
        <AccountType/>
      </UserInfo>
    </Students>
    <AppVersion xmlns="b8bf9891-911b-4f04-abb5-c4fb29804e94" xsi:nil="true"/>
    <TeamsChannelId xmlns="b8bf9891-911b-4f04-abb5-c4fb29804e94" xsi:nil="true"/>
    <IsNotebookLocked xmlns="b8bf9891-911b-4f04-abb5-c4fb29804e94" xsi:nil="true"/>
    <Self_Registration_Enabled xmlns="b8bf9891-911b-4f04-abb5-c4fb29804e94" xsi:nil="true"/>
    <Teachers xmlns="b8bf9891-911b-4f04-abb5-c4fb29804e94">
      <UserInfo>
        <DisplayName/>
        <AccountId xsi:nil="true"/>
        <AccountType/>
      </UserInfo>
    </Teachers>
    <Teams_Channel_Section_Location xmlns="b8bf9891-911b-4f04-abb5-c4fb29804e94" xsi:nil="true"/>
    <Math_Settings xmlns="b8bf9891-911b-4f04-abb5-c4fb29804e94" xsi:nil="true"/>
    <NotebookType xmlns="b8bf9891-911b-4f04-abb5-c4fb29804e94" xsi:nil="true"/>
    <LMS_Mappings xmlns="b8bf9891-911b-4f04-abb5-c4fb29804e94" xsi:nil="true"/>
    <Invited_Students xmlns="b8bf9891-911b-4f04-abb5-c4fb29804e94" xsi:nil="true"/>
    <FolderType xmlns="b8bf9891-911b-4f04-abb5-c4fb29804e94" xsi:nil="true"/>
    <Owner xmlns="b8bf9891-911b-4f04-abb5-c4fb29804e94">
      <UserInfo>
        <DisplayName/>
        <AccountId xsi:nil="true"/>
        <AccountType/>
      </UserInfo>
    </Owner>
    <Student_Groups xmlns="b8bf9891-911b-4f04-abb5-c4fb29804e94">
      <UserInfo>
        <DisplayName/>
        <AccountId xsi:nil="true"/>
        <AccountType/>
      </UserInfo>
    </Student_Groups>
    <Distribution_Groups xmlns="b8bf9891-911b-4f04-abb5-c4fb29804e94" xsi:nil="true"/>
    <Invited_Teachers xmlns="b8bf9891-911b-4f04-abb5-c4fb29804e94" xsi:nil="true"/>
    <DefaultSectionNames xmlns="b8bf9891-911b-4f04-abb5-c4fb29804e94" xsi:nil="true"/>
    <Templates xmlns="b8bf9891-911b-4f04-abb5-c4fb29804e9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D0A3F8BB9C83540A482A569179BAA67" ma:contentTypeVersion="39" ma:contentTypeDescription="Crear nuevo documento." ma:contentTypeScope="" ma:versionID="d5292f060c1413279b0b290260667470">
  <xsd:schema xmlns:xsd="http://www.w3.org/2001/XMLSchema" xmlns:xs="http://www.w3.org/2001/XMLSchema" xmlns:p="http://schemas.microsoft.com/office/2006/metadata/properties" xmlns:ns3="b8bf9891-911b-4f04-abb5-c4fb29804e94" xmlns:ns4="5d16d765-08e1-41d4-b2a6-c761532bcbf8" targetNamespace="http://schemas.microsoft.com/office/2006/metadata/properties" ma:root="true" ma:fieldsID="f98265eeac6121ef9ef963a0f41c4f2e" ns3:_="" ns4:_="">
    <xsd:import namespace="b8bf9891-911b-4f04-abb5-c4fb29804e94"/>
    <xsd:import namespace="5d16d765-08e1-41d4-b2a6-c761532bcbf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Locatio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NotebookType" minOccurs="0"/>
                <xsd:element ref="ns3:FolderType" minOccurs="0"/>
                <xsd:element ref="ns3:CultureName" minOccurs="0"/>
                <xsd:element ref="ns3:AppVersion" minOccurs="0"/>
                <xsd:element ref="ns3:TeamsChannelId" minOccurs="0"/>
                <xsd:element ref="ns3:Owner" minOccurs="0"/>
                <xsd:element ref="ns3:Math_Settings" minOccurs="0"/>
                <xsd:element ref="ns3:DefaultSectionNames" minOccurs="0"/>
                <xsd:element ref="ns3:Templates" minOccurs="0"/>
                <xsd:element ref="ns3:Teachers" minOccurs="0"/>
                <xsd:element ref="ns3:Students" minOccurs="0"/>
                <xsd:element ref="ns3:Student_Groups" minOccurs="0"/>
                <xsd:element ref="ns3:Distribution_Groups" minOccurs="0"/>
                <xsd:element ref="ns3:LMS_Mappings" minOccurs="0"/>
                <xsd:element ref="ns3:Invited_Teachers" minOccurs="0"/>
                <xsd:element ref="ns3:Invited_Students" minOccurs="0"/>
                <xsd:element ref="ns3:Self_Registration_Enabled" minOccurs="0"/>
                <xsd:element ref="ns3:Has_Teacher_Only_SectionGroup" minOccurs="0"/>
                <xsd:element ref="ns3:Is_Collaboration_Space_Locked" minOccurs="0"/>
                <xsd:element ref="ns3:IsNotebookLocked" minOccurs="0"/>
                <xsd:element ref="ns3:Teams_Channel_Section_Location" minOccurs="0"/>
                <xsd:element ref="ns3:MediaLengthInSeconds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bf9891-911b-4f04-abb5-c4fb29804e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Location" ma:index="11" nillable="true" ma:displayName="MediaServiceLocation" ma:description="" ma:indexed="true" ma:internalName="MediaServiceLocation" ma:readOnly="true">
      <xsd:simpleType>
        <xsd:restriction base="dms:Text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NotebookType" ma:index="19" nillable="true" ma:displayName="Notebook Type" ma:internalName="NotebookType">
      <xsd:simpleType>
        <xsd:restriction base="dms:Text"/>
      </xsd:simpleType>
    </xsd:element>
    <xsd:element name="FolderType" ma:index="20" nillable="true" ma:displayName="Folder Type" ma:internalName="FolderType">
      <xsd:simpleType>
        <xsd:restriction base="dms:Text"/>
      </xsd:simpleType>
    </xsd:element>
    <xsd:element name="CultureName" ma:index="21" nillable="true" ma:displayName="Culture Name" ma:internalName="CultureName">
      <xsd:simpleType>
        <xsd:restriction base="dms:Text"/>
      </xsd:simpleType>
    </xsd:element>
    <xsd:element name="AppVersion" ma:index="22" nillable="true" ma:displayName="App Version" ma:internalName="AppVersion">
      <xsd:simpleType>
        <xsd:restriction base="dms:Text"/>
      </xsd:simpleType>
    </xsd:element>
    <xsd:element name="TeamsChannelId" ma:index="23" nillable="true" ma:displayName="Teams Channel Id" ma:internalName="TeamsChannelId">
      <xsd:simpleType>
        <xsd:restriction base="dms:Text"/>
      </xsd:simpleType>
    </xsd:element>
    <xsd:element name="Owner" ma:index="24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25" nillable="true" ma:displayName="Math Settings" ma:internalName="Math_Settings">
      <xsd:simpleType>
        <xsd:restriction base="dms:Text"/>
      </xsd:simpleType>
    </xsd:element>
    <xsd:element name="DefaultSectionNames" ma:index="26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27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28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29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30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31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32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33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34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35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36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7" nillable="true" ma:displayName="Is Collaboration Space Locked" ma:internalName="Is_Collaboration_Space_Locked">
      <xsd:simpleType>
        <xsd:restriction base="dms:Boolean"/>
      </xsd:simpleType>
    </xsd:element>
    <xsd:element name="IsNotebookLocked" ma:index="38" nillable="true" ma:displayName="Is Notebook Locked" ma:internalName="IsNotebookLocked">
      <xsd:simpleType>
        <xsd:restriction base="dms:Boolean"/>
      </xsd:simpleType>
    </xsd:element>
    <xsd:element name="Teams_Channel_Section_Location" ma:index="39" nillable="true" ma:displayName="Teams Channel Section Location" ma:internalName="Teams_Channel_Section_Location">
      <xsd:simpleType>
        <xsd:restriction base="dms:Text"/>
      </xsd:simpleType>
    </xsd:element>
    <xsd:element name="MediaLengthInSeconds" ma:index="4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4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4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43" nillable="true" ma:displayName="_activity" ma:hidden="true" ma:internalName="_activity">
      <xsd:simpleType>
        <xsd:restriction base="dms:Note"/>
      </xsd:simpleType>
    </xsd:element>
    <xsd:element name="MediaServiceObjectDetectorVersions" ma:index="4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46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6d765-08e1-41d4-b2a6-c761532bcbf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6B226-53F8-498E-B3D9-B9564F9922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7028F0-9044-4DFF-A909-9022118DD90D}">
  <ds:schemaRefs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terms/"/>
    <ds:schemaRef ds:uri="http://purl.org/dc/elements/1.1/"/>
    <ds:schemaRef ds:uri="http://schemas.microsoft.com/office/2006/metadata/properties"/>
    <ds:schemaRef ds:uri="b8bf9891-911b-4f04-abb5-c4fb29804e94"/>
    <ds:schemaRef ds:uri="http://schemas.microsoft.com/office/2006/documentManagement/types"/>
    <ds:schemaRef ds:uri="5d16d765-08e1-41d4-b2a6-c761532bcbf8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BF5E3F4-3F4F-4508-97D3-B3601D721F8E}">
  <ds:schemaRefs>
    <ds:schemaRef ds:uri="5d16d765-08e1-41d4-b2a6-c761532bcbf8"/>
    <ds:schemaRef ds:uri="b8bf9891-911b-4f04-abb5-c4fb29804e9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4276</TotalTime>
  <Words>579</Words>
  <Application>Microsoft Macintosh PowerPoint</Application>
  <PresentationFormat>Panorámica</PresentationFormat>
  <Paragraphs>123</Paragraphs>
  <Slides>17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Aptos</vt:lpstr>
      <vt:lpstr>Arial</vt:lpstr>
      <vt:lpstr>Montserrat</vt:lpstr>
      <vt:lpstr>Tahoma</vt:lpstr>
      <vt:lpstr>Wingdings</vt:lpstr>
      <vt:lpstr>Tema de Office</vt:lpstr>
      <vt:lpstr>PROYECTO DISIA</vt:lpstr>
      <vt:lpstr>Proyecto DISIA</vt:lpstr>
      <vt:lpstr>Requisitos de la entrega</vt:lpstr>
      <vt:lpstr>Proyecto DISIA: Hito 4</vt:lpstr>
      <vt:lpstr>Proyecto DISIA: Hito 4</vt:lpstr>
      <vt:lpstr>Proyecto DISIA: Hito 4</vt:lpstr>
      <vt:lpstr>Ejemplo</vt:lpstr>
      <vt:lpstr>Ejemplo II</vt:lpstr>
      <vt:lpstr>Ejemplo III</vt:lpstr>
      <vt:lpstr>Ejemplo IV: Contenerización</vt:lpstr>
      <vt:lpstr>Ejemplo V: preguntas abiertas</vt:lpstr>
      <vt:lpstr>Ejemplo VI: API</vt:lpstr>
      <vt:lpstr>Ejemplo VII: API</vt:lpstr>
      <vt:lpstr>Ejemplo VIII: API</vt:lpstr>
      <vt:lpstr>Preguntas abiertas</vt:lpstr>
      <vt:lpstr>Soluciones estándar</vt:lpstr>
      <vt:lpstr>Soluciones de facto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1: xxxxx</dc:title>
  <dc:creator>Santiago Jara del Rey</dc:creator>
  <cp:lastModifiedBy>José Antonio de la Torre las Heras</cp:lastModifiedBy>
  <cp:revision>3</cp:revision>
  <dcterms:created xsi:type="dcterms:W3CDTF">2024-06-11T11:12:29Z</dcterms:created>
  <dcterms:modified xsi:type="dcterms:W3CDTF">2026-04-22T08:49:48Z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0x0101003D0A3F8BB9C83540A482A569179BAA67</vt:lpwstr>
  </property>
  <property fmtid="{D5CDD505-2E9C-101B-9397-08002B2CF9AE}" pid="3" name="MediaServiceImageTags">
    <vt:lpwstr/>
  </property>
</Properties>
</file>